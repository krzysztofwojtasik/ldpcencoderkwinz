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391" r:id="rId2"/>
    <p:sldId id="279" r:id="rId3"/>
    <p:sldId id="296" r:id="rId4"/>
    <p:sldId id="392" r:id="rId5"/>
    <p:sldId id="394" r:id="rId6"/>
    <p:sldId id="393" r:id="rId7"/>
    <p:sldId id="395" r:id="rId8"/>
    <p:sldId id="396" r:id="rId9"/>
    <p:sldId id="397" r:id="rId10"/>
    <p:sldId id="320" r:id="rId11"/>
    <p:sldId id="398" r:id="rId12"/>
    <p:sldId id="389" r:id="rId13"/>
  </p:sldIdLst>
  <p:sldSz cx="24384000" cy="13716000"/>
  <p:notesSz cx="9144000" cy="6858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C9324A95-C179-42B0-88B6-91656287D470}">
          <p14:sldIdLst>
            <p14:sldId id="391"/>
            <p14:sldId id="279"/>
            <p14:sldId id="296"/>
            <p14:sldId id="392"/>
            <p14:sldId id="394"/>
            <p14:sldId id="393"/>
            <p14:sldId id="395"/>
            <p14:sldId id="396"/>
            <p14:sldId id="397"/>
            <p14:sldId id="320"/>
            <p14:sldId id="398"/>
            <p14:sldId id="38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4C8E"/>
    <a:srgbClr val="0B294C"/>
    <a:srgbClr val="FBBA00"/>
    <a:srgbClr val="535353"/>
    <a:srgbClr val="087F7F"/>
    <a:srgbClr val="DCDDDF"/>
    <a:srgbClr val="7F7F7F"/>
    <a:srgbClr val="19A6CD"/>
    <a:srgbClr val="00B050"/>
    <a:srgbClr val="1BB3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71" autoAdjust="0"/>
    <p:restoredTop sz="94678" autoAdjust="0"/>
  </p:normalViewPr>
  <p:slideViewPr>
    <p:cSldViewPr snapToGrid="0" showGuides="1">
      <p:cViewPr varScale="1">
        <p:scale>
          <a:sx n="77" d="100"/>
          <a:sy n="77" d="100"/>
        </p:scale>
        <p:origin x="876" y="108"/>
      </p:cViewPr>
      <p:guideLst/>
    </p:cSldViewPr>
  </p:slideViewPr>
  <p:outlineViewPr>
    <p:cViewPr>
      <p:scale>
        <a:sx n="33" d="100"/>
        <a:sy n="33" d="100"/>
      </p:scale>
      <p:origin x="0" y="-454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7696"/>
    </p:cViewPr>
  </p:sorterViewPr>
  <p:notesViewPr>
    <p:cSldViewPr snapToGrid="0" showGuides="1">
      <p:cViewPr varScale="1">
        <p:scale>
          <a:sx n="165" d="100"/>
          <a:sy n="165" d="100"/>
        </p:scale>
        <p:origin x="2892" y="12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ymbol zastępczy stopki 5"/>
          <p:cNvSpPr>
            <a:spLocks noGrp="1"/>
          </p:cNvSpPr>
          <p:nvPr>
            <p:ph type="ftr" sz="quarter" idx="2"/>
          </p:nvPr>
        </p:nvSpPr>
        <p:spPr>
          <a:xfrm>
            <a:off x="645042" y="5314550"/>
            <a:ext cx="7861005" cy="34409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275245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CBC42-6563-49C0-9AB0-0B46679F5AB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DDD579-49B2-4848-8B9E-FAC72A3B8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8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45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21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67100-9ADD-7C52-6350-409F27334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92330-D9BA-64FE-C414-4F35B2CF4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A3C3A-0F9F-672E-3E42-943793A7B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5367F-0CE9-11D3-9AF2-7E84A77059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67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022C9-0B3A-9597-87F1-83AAFEB3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E5B7C-853A-0F92-71D4-D07FAA090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1C111-133E-6EB0-9291-1DD861BE5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934E2-43F2-C9A7-88C6-4A014E64C1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89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1604D-06BF-74A6-C56B-5E3149A5D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BDA97-64F1-CC74-0A4F-E7826EB07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74477-96F2-441E-5B62-8588BF7FE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5A9A5-2E4C-0B8C-2E51-E5DA076956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04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F2A79-4D13-8EA0-7381-B9FDDBDCA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1ABCA4-F391-ADE6-E59C-1D54EB50E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FF4BF-E10F-01F1-8D14-D4DADE536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749C0-A290-9D3D-B147-6282C34BA1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52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5A9A5-ED99-691C-F75B-D7B93D0B3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74878B-4E4B-96B2-76EF-AD52BB9FA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A92F1-D7C7-A655-5C34-B9C8B7153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E9B48-EBC1-5325-88A1-2E43310A4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95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85454-65B7-E6C2-D2AA-E76403C9E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FF5CE-A174-8293-0C61-353E4C8B6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7A1F0-99F9-6E5A-BD97-20537E5A5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3DF6D-CE46-E462-1E35-8BB720855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29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71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335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-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5435600" y="3057525"/>
            <a:ext cx="13512800" cy="76009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788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0312400" y="3057525"/>
            <a:ext cx="12395200" cy="76009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987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Full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4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Welcome Mess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3115447" y="3529906"/>
            <a:ext cx="6778196" cy="66561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794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About U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257490" y="3513538"/>
            <a:ext cx="3128210" cy="3128210"/>
          </a:xfrm>
          <a:custGeom>
            <a:avLst/>
            <a:gdLst>
              <a:gd name="connsiteX0" fmla="*/ 1564105 w 3128210"/>
              <a:gd name="connsiteY0" fmla="*/ 0 h 3128210"/>
              <a:gd name="connsiteX1" fmla="*/ 3128210 w 3128210"/>
              <a:gd name="connsiteY1" fmla="*/ 1564105 h 3128210"/>
              <a:gd name="connsiteX2" fmla="*/ 1564105 w 3128210"/>
              <a:gd name="connsiteY2" fmla="*/ 3128210 h 3128210"/>
              <a:gd name="connsiteX3" fmla="*/ 0 w 3128210"/>
              <a:gd name="connsiteY3" fmla="*/ 1564105 h 3128210"/>
              <a:gd name="connsiteX4" fmla="*/ 1564105 w 3128210"/>
              <a:gd name="connsiteY4" fmla="*/ 0 h 3128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8210" h="3128210">
                <a:moveTo>
                  <a:pt x="1564105" y="0"/>
                </a:moveTo>
                <a:cubicBezTo>
                  <a:pt x="2427936" y="0"/>
                  <a:pt x="3128210" y="700274"/>
                  <a:pt x="3128210" y="1564105"/>
                </a:cubicBezTo>
                <a:cubicBezTo>
                  <a:pt x="3128210" y="2427936"/>
                  <a:pt x="2427936" y="3128210"/>
                  <a:pt x="1564105" y="3128210"/>
                </a:cubicBezTo>
                <a:cubicBezTo>
                  <a:pt x="700274" y="3128210"/>
                  <a:pt x="0" y="2427936"/>
                  <a:pt x="0" y="1564105"/>
                </a:cubicBezTo>
                <a:cubicBezTo>
                  <a:pt x="0" y="700274"/>
                  <a:pt x="700274" y="0"/>
                  <a:pt x="1564105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8047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-Company TImelin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0100109" y="4910963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78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-Company TImelin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0100109" y="1646238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10100109" y="6785061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674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-Company TImelin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10100109" y="4091055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71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-Our Succe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2649200" y="5354283"/>
            <a:ext cx="10058400" cy="67123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84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Our Dedicated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9890564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3219976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6549388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9878800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9890564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4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13219976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6549388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19878800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0250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-Meet the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957996" y="2850917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3850089" y="596531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8742182" y="2850917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978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-Meet the Team Exper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679516" y="1646238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3710848" y="1646238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8742179" y="1646238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200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-Meet the Crew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2827294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8132257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3437220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9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8742182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570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-Our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2827294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7844476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2861661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7878845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01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-Slide with Two Narrow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7733492" y="1646238"/>
            <a:ext cx="4974107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2551343" y="1646238"/>
            <a:ext cx="4974107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755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-Digital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7418145" y="1646238"/>
            <a:ext cx="5492541" cy="599304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0" y="6073540"/>
            <a:ext cx="5492541" cy="599304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676400" y="1646238"/>
            <a:ext cx="5492541" cy="42152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7418144" y="7851385"/>
            <a:ext cx="5492541" cy="42152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720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-Design Proce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76400" y="0"/>
            <a:ext cx="6024607" cy="13716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745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-Design &amp; Pri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9020548" y="1756"/>
            <a:ext cx="6663989" cy="1005664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043611" y="3659356"/>
            <a:ext cx="6663989" cy="1005664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419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-Photograph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76400" y="1646238"/>
            <a:ext cx="21031201" cy="12069762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939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-Our Studi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19900" cy="13716000"/>
          </a:xfrm>
          <a:custGeom>
            <a:avLst/>
            <a:gdLst>
              <a:gd name="connsiteX0" fmla="*/ 0 w 6819900"/>
              <a:gd name="connsiteY0" fmla="*/ 0 h 13716000"/>
              <a:gd name="connsiteX1" fmla="*/ 6819900 w 6819900"/>
              <a:gd name="connsiteY1" fmla="*/ 0 h 13716000"/>
              <a:gd name="connsiteX2" fmla="*/ 6819900 w 6819900"/>
              <a:gd name="connsiteY2" fmla="*/ 13716000 h 13716000"/>
              <a:gd name="connsiteX3" fmla="*/ 0 w 6819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9900" h="13716000">
                <a:moveTo>
                  <a:pt x="0" y="0"/>
                </a:moveTo>
                <a:lnTo>
                  <a:pt x="6819900" y="0"/>
                </a:lnTo>
                <a:lnTo>
                  <a:pt x="6819900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7115946" y="0"/>
            <a:ext cx="6819900" cy="6709978"/>
          </a:xfrm>
          <a:custGeom>
            <a:avLst/>
            <a:gdLst>
              <a:gd name="connsiteX0" fmla="*/ 0 w 6819900"/>
              <a:gd name="connsiteY0" fmla="*/ 0 h 6709978"/>
              <a:gd name="connsiteX1" fmla="*/ 6819900 w 6819900"/>
              <a:gd name="connsiteY1" fmla="*/ 0 h 6709978"/>
              <a:gd name="connsiteX2" fmla="*/ 6819900 w 6819900"/>
              <a:gd name="connsiteY2" fmla="*/ 6709978 h 6709978"/>
              <a:gd name="connsiteX3" fmla="*/ 0 w 6819900"/>
              <a:gd name="connsiteY3" fmla="*/ 6709978 h 670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9900" h="6709978">
                <a:moveTo>
                  <a:pt x="0" y="0"/>
                </a:moveTo>
                <a:lnTo>
                  <a:pt x="6819900" y="0"/>
                </a:lnTo>
                <a:lnTo>
                  <a:pt x="6819900" y="6709978"/>
                </a:lnTo>
                <a:lnTo>
                  <a:pt x="0" y="670997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7115946" y="7000240"/>
            <a:ext cx="6819900" cy="6715760"/>
          </a:xfrm>
          <a:custGeom>
            <a:avLst/>
            <a:gdLst>
              <a:gd name="connsiteX0" fmla="*/ 0 w 6819900"/>
              <a:gd name="connsiteY0" fmla="*/ 0 h 6715760"/>
              <a:gd name="connsiteX1" fmla="*/ 6819900 w 6819900"/>
              <a:gd name="connsiteY1" fmla="*/ 0 h 6715760"/>
              <a:gd name="connsiteX2" fmla="*/ 6819900 w 6819900"/>
              <a:gd name="connsiteY2" fmla="*/ 6715760 h 6715760"/>
              <a:gd name="connsiteX3" fmla="*/ 0 w 6819900"/>
              <a:gd name="connsiteY3" fmla="*/ 6715760 h 671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9900" h="6715760">
                <a:moveTo>
                  <a:pt x="0" y="0"/>
                </a:moveTo>
                <a:lnTo>
                  <a:pt x="6819900" y="0"/>
                </a:lnTo>
                <a:lnTo>
                  <a:pt x="6819900" y="6715760"/>
                </a:lnTo>
                <a:lnTo>
                  <a:pt x="0" y="671576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94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-Customer Testemonial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2827293" y="7373188"/>
            <a:ext cx="3203409" cy="32034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3775555" y="7373188"/>
            <a:ext cx="3203409" cy="32034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3775555" y="1646238"/>
            <a:ext cx="3203409" cy="32034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057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-Slide with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1933407" y="1646238"/>
            <a:ext cx="10774194" cy="104383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82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-Slide with Lef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76400" y="1646238"/>
            <a:ext cx="9229021" cy="104383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540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-Our 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4688151" y="1646238"/>
            <a:ext cx="8019449" cy="104383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182275" y="5871411"/>
            <a:ext cx="6159501" cy="39280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663700" y="8170991"/>
            <a:ext cx="6159501" cy="39280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4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-Photo Gallery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1" y="1646238"/>
            <a:ext cx="10411881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2295719" y="1646238"/>
            <a:ext cx="10411881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757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-Photo Gallery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1" y="6962268"/>
            <a:ext cx="1041188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2295719" y="1646238"/>
            <a:ext cx="1041188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767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-Photo Gallery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1" y="1646238"/>
            <a:ext cx="6872111" cy="690099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5835489" y="1646238"/>
            <a:ext cx="6872111" cy="690099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8755944" y="1646238"/>
            <a:ext cx="6872111" cy="690099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534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-Photo Gallery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8755945" y="1646238"/>
            <a:ext cx="687211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5835489" y="6962269"/>
            <a:ext cx="687211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0" y="6962269"/>
            <a:ext cx="687211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724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-Photo Gallery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7605376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2295719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6986058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676398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140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-Photo Gallery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2295717" y="1646238"/>
            <a:ext cx="10411883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676401" y="1646238"/>
            <a:ext cx="10411883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6991845"/>
            <a:ext cx="6872111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5835489" y="6991845"/>
            <a:ext cx="6872111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4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8755945" y="6991845"/>
            <a:ext cx="6872111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882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-Photo Gallery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5835488" y="1646238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8755944" y="1646238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1646238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5835488" y="6958873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8755944" y="6958873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9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676401" y="6958873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501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-Photo Gallery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1646238"/>
            <a:ext cx="6872112" cy="42712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676401" y="6155450"/>
            <a:ext cx="6872112" cy="588867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15835488" y="1646236"/>
            <a:ext cx="6872112" cy="588867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5835488" y="7772842"/>
            <a:ext cx="6872112" cy="42712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8735292" y="1646236"/>
            <a:ext cx="6872112" cy="1039789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548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-Photo Gallery Slide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4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17605376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2295717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6986059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9"/>
          </p:nvPr>
        </p:nvSpPr>
        <p:spPr>
          <a:xfrm>
            <a:off x="1676401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Picture Placeholder 26"/>
          <p:cNvSpPr>
            <a:spLocks noGrp="1"/>
          </p:cNvSpPr>
          <p:nvPr>
            <p:ph type="pic" sz="quarter" idx="20"/>
          </p:nvPr>
        </p:nvSpPr>
        <p:spPr>
          <a:xfrm>
            <a:off x="17605376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9" name="Picture Placeholder 26"/>
          <p:cNvSpPr>
            <a:spLocks noGrp="1"/>
          </p:cNvSpPr>
          <p:nvPr>
            <p:ph type="pic" sz="quarter" idx="21"/>
          </p:nvPr>
        </p:nvSpPr>
        <p:spPr>
          <a:xfrm>
            <a:off x="12295717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0" name="Picture Placeholder 26"/>
          <p:cNvSpPr>
            <a:spLocks noGrp="1"/>
          </p:cNvSpPr>
          <p:nvPr>
            <p:ph type="pic" sz="quarter" idx="22"/>
          </p:nvPr>
        </p:nvSpPr>
        <p:spPr>
          <a:xfrm>
            <a:off x="6986059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83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-Portfolio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 userDrawn="1">
            <p:ph type="pic" sz="quarter" idx="10"/>
          </p:nvPr>
        </p:nvSpPr>
        <p:spPr>
          <a:xfrm>
            <a:off x="14464580" y="5660195"/>
            <a:ext cx="7868996" cy="49317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 userDrawn="1">
            <p:ph type="pic" sz="quarter" idx="11"/>
          </p:nvPr>
        </p:nvSpPr>
        <p:spPr>
          <a:xfrm>
            <a:off x="11118103" y="5023564"/>
            <a:ext cx="3452330" cy="461256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 userDrawn="1">
            <p:ph type="pic" sz="quarter" idx="12"/>
          </p:nvPr>
        </p:nvSpPr>
        <p:spPr>
          <a:xfrm>
            <a:off x="9967142" y="8106820"/>
            <a:ext cx="1487487" cy="263150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678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-Mobile App in The Ha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846551" y="2578101"/>
            <a:ext cx="3177116" cy="560705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bg1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bg1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4" name="TextBox 10"/>
          <p:cNvSpPr txBox="1"/>
          <p:nvPr userDrawn="1"/>
        </p:nvSpPr>
        <p:spPr>
          <a:xfrm>
            <a:off x="481263" y="68103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8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-Project Showcas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6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6847909" y="4374834"/>
            <a:ext cx="10688251" cy="670464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18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-App Featur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2366433" y="2927350"/>
            <a:ext cx="4444999" cy="78613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97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-App in Watc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0414002" y="4572000"/>
            <a:ext cx="3718558" cy="465751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739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-App Design Mocku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0020301" y="2929467"/>
            <a:ext cx="4444999" cy="78613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064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-Portfolio in Macboo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3623446" y="3017672"/>
            <a:ext cx="11057753" cy="69264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137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-Macbook &amp; iPhone Mocku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-1460500" y="3395133"/>
            <a:ext cx="10024533" cy="62568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7736177" y="6424082"/>
            <a:ext cx="3270490" cy="578485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46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-Web Design &amp; Developm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 userDrawn="1">
            <p:ph type="pic" sz="quarter" idx="10"/>
          </p:nvPr>
        </p:nvSpPr>
        <p:spPr>
          <a:xfrm>
            <a:off x="14291326" y="2840682"/>
            <a:ext cx="7868996" cy="49317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 userDrawn="1">
            <p:ph type="pic" sz="quarter" idx="11"/>
          </p:nvPr>
        </p:nvSpPr>
        <p:spPr>
          <a:xfrm>
            <a:off x="13159194" y="5839572"/>
            <a:ext cx="3452330" cy="461256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 userDrawn="1">
            <p:ph type="pic" sz="quarter" idx="12"/>
          </p:nvPr>
        </p:nvSpPr>
        <p:spPr>
          <a:xfrm>
            <a:off x="12012678" y="8920766"/>
            <a:ext cx="1487487" cy="263150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61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-Portfolio in iMa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1440160" y="2557432"/>
            <a:ext cx="10480040" cy="631351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876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-Portfolio in iPhon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8513233" y="6081183"/>
            <a:ext cx="3490384" cy="61891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3686084" y="4366683"/>
            <a:ext cx="3490384" cy="61891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8722109" y="2652183"/>
            <a:ext cx="3490384" cy="61891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656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ostokąt 9"/>
          <p:cNvSpPr/>
          <p:nvPr userDrawn="1"/>
        </p:nvSpPr>
        <p:spPr>
          <a:xfrm>
            <a:off x="0" y="12079288"/>
            <a:ext cx="24384000" cy="16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ole tekstowe 18"/>
          <p:cNvSpPr txBox="1"/>
          <p:nvPr userDrawn="1"/>
        </p:nvSpPr>
        <p:spPr>
          <a:xfrm>
            <a:off x="16836424" y="12612289"/>
            <a:ext cx="70986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spc="600" dirty="0">
                <a:solidFill>
                  <a:srgbClr val="154C8E"/>
                </a:solidFill>
                <a:latin typeface="Barlow SCK SemiBold" panose="00000706000000000000" pitchFamily="50" charset="-18"/>
              </a:rPr>
              <a:t>CURABITUR</a:t>
            </a:r>
            <a:r>
              <a:rPr lang="pl-PL" sz="3000" spc="600" dirty="0">
                <a:solidFill>
                  <a:srgbClr val="154C8E"/>
                </a:solidFill>
                <a:latin typeface="Barlow SCK SemiBold" panose="00000706000000000000" pitchFamily="50" charset="-18"/>
              </a:rPr>
              <a:t> PULVINAR QUAM</a:t>
            </a:r>
          </a:p>
        </p:txBody>
      </p:sp>
      <p:pic>
        <p:nvPicPr>
          <p:cNvPr id="17" name="Obraz 16"/>
          <p:cNvPicPr>
            <a:picLocks noChangeAspect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226" y="12272895"/>
            <a:ext cx="3334313" cy="123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7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709" r:id="rId2"/>
    <p:sldLayoutId id="2147483710" r:id="rId3"/>
    <p:sldLayoutId id="2147483682" r:id="rId4"/>
    <p:sldLayoutId id="2147483691" r:id="rId5"/>
    <p:sldLayoutId id="2147483693" r:id="rId6"/>
    <p:sldLayoutId id="2147483713" r:id="rId7"/>
    <p:sldLayoutId id="2147483714" r:id="rId8"/>
    <p:sldLayoutId id="2147483715" r:id="rId9"/>
    <p:sldLayoutId id="2147483730" r:id="rId10"/>
    <p:sldLayoutId id="2147483707" r:id="rId11"/>
    <p:sldLayoutId id="2147483705" r:id="rId12"/>
    <p:sldLayoutId id="2147483712" r:id="rId13"/>
    <p:sldLayoutId id="2147483706" r:id="rId14"/>
    <p:sldLayoutId id="2147483719" r:id="rId15"/>
    <p:sldLayoutId id="2147483716" r:id="rId16"/>
    <p:sldLayoutId id="2147483718" r:id="rId17"/>
    <p:sldLayoutId id="2147483708" r:id="rId18"/>
    <p:sldLayoutId id="2147483692" r:id="rId19"/>
    <p:sldLayoutId id="2147483690" r:id="rId20"/>
    <p:sldLayoutId id="2147483686" r:id="rId21"/>
    <p:sldLayoutId id="2147483720" r:id="rId22"/>
    <p:sldLayoutId id="2147483685" r:id="rId23"/>
    <p:sldLayoutId id="2147483684" r:id="rId24"/>
    <p:sldLayoutId id="2147483689" r:id="rId25"/>
    <p:sldLayoutId id="2147483722" r:id="rId26"/>
    <p:sldLayoutId id="2147483723" r:id="rId27"/>
    <p:sldLayoutId id="2147483721" r:id="rId28"/>
    <p:sldLayoutId id="2147483725" r:id="rId29"/>
    <p:sldLayoutId id="2147483724" r:id="rId30"/>
    <p:sldLayoutId id="2147483726" r:id="rId31"/>
    <p:sldLayoutId id="2147483727" r:id="rId32"/>
    <p:sldLayoutId id="2147483728" r:id="rId33"/>
    <p:sldLayoutId id="2147483729" r:id="rId34"/>
    <p:sldLayoutId id="2147483697" r:id="rId35"/>
    <p:sldLayoutId id="2147483704" r:id="rId36"/>
    <p:sldLayoutId id="2147483702" r:id="rId37"/>
    <p:sldLayoutId id="2147483701" r:id="rId38"/>
    <p:sldLayoutId id="2147483700" r:id="rId39"/>
    <p:sldLayoutId id="2147483699" r:id="rId40"/>
    <p:sldLayoutId id="2147483694" r:id="rId41"/>
    <p:sldLayoutId id="2147483698" r:id="rId42"/>
    <p:sldLayoutId id="2147483717" r:id="rId43"/>
    <p:sldLayoutId id="2147483695" r:id="rId44"/>
    <p:sldLayoutId id="2147483696" r:id="rId45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0">
          <p15:clr>
            <a:srgbClr val="F26B43"/>
          </p15:clr>
        </p15:guide>
        <p15:guide id="3" orient="horz" pos="1031">
          <p15:clr>
            <a:srgbClr val="F26B43"/>
          </p15:clr>
        </p15:guide>
        <p15:guide id="4" pos="1012">
          <p15:clr>
            <a:srgbClr val="F26B43"/>
          </p15:clr>
        </p15:guide>
        <p15:guide id="5" pos="14348">
          <p15:clr>
            <a:srgbClr val="F26B43"/>
          </p15:clr>
        </p15:guide>
        <p15:guide id="6" orient="horz" pos="6588">
          <p15:clr>
            <a:srgbClr val="F26B43"/>
          </p15:clr>
        </p15:guide>
        <p15:guide id="7" orient="horz" pos="76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ymbol zastępczy obrazu 12">
            <a:extLst>
              <a:ext uri="{FF2B5EF4-FFF2-40B4-BE49-F238E27FC236}">
                <a16:creationId xmlns:a16="http://schemas.microsoft.com/office/drawing/2014/main" id="{4D5C726F-B055-4C9F-91E9-F8EA34FA2B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3716000"/>
          </a:xfrm>
        </p:spPr>
      </p:pic>
      <p:sp>
        <p:nvSpPr>
          <p:cNvPr id="4" name="TextBox 3"/>
          <p:cNvSpPr txBox="1"/>
          <p:nvPr/>
        </p:nvSpPr>
        <p:spPr>
          <a:xfrm>
            <a:off x="2681036" y="6858000"/>
            <a:ext cx="19021928" cy="20313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sz="6600" b="1" cap="all" dirty="0">
                <a:solidFill>
                  <a:schemeClr val="bg1"/>
                </a:solidFill>
                <a:cs typeface="Poppins SemiBold" panose="02000000000000000000" pitchFamily="2" charset="0"/>
              </a:rPr>
              <a:t>Wybrane elementy kanału PDSCH systemu 5g NR modelowane w języku opisu sprzętu</a:t>
            </a:r>
            <a:endParaRPr lang="en-US" sz="6600" b="1" cap="all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1995" y="9456821"/>
            <a:ext cx="610001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b="1" spc="600" dirty="0">
                <a:solidFill>
                  <a:schemeClr val="bg1"/>
                </a:solidFill>
                <a:cs typeface="Poppins SemiBold" panose="02000000000000000000" pitchFamily="2" charset="0"/>
              </a:rPr>
              <a:t>Krzysztof Wojtasik</a:t>
            </a:r>
            <a:endParaRPr lang="en-US" b="1" spc="600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16" name="Straight Connector 6"/>
          <p:cNvCxnSpPr/>
          <p:nvPr/>
        </p:nvCxnSpPr>
        <p:spPr>
          <a:xfrm flipH="1">
            <a:off x="11354594" y="12233228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Obraz 9">
            <a:extLst>
              <a:ext uri="{FF2B5EF4-FFF2-40B4-BE49-F238E27FC236}">
                <a16:creationId xmlns:a16="http://schemas.microsoft.com/office/drawing/2014/main" id="{065E7305-FB91-40B5-9D83-F8D3F4EF16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397" y="933854"/>
            <a:ext cx="4133705" cy="5315556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5F4822F7-64E1-4D53-92A2-18353B6F31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9412" y="1365337"/>
            <a:ext cx="3095537" cy="44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0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12232" y="1646238"/>
            <a:ext cx="21095368" cy="8812800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176333" y="2826595"/>
            <a:ext cx="7906920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PDSCH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D0692FB3-6D19-67AD-6240-CC612F9C8E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" r="1021"/>
          <a:stretch>
            <a:fillRect/>
          </a:stretch>
        </p:blipFill>
        <p:spPr>
          <a:xfrm>
            <a:off x="12697215" y="1646238"/>
            <a:ext cx="10074553" cy="8817103"/>
          </a:xfrm>
        </p:spPr>
      </p:pic>
    </p:spTree>
    <p:extLst>
      <p:ext uri="{BB962C8B-B14F-4D97-AF65-F5344CB8AC3E}">
        <p14:creationId xmlns:p14="http://schemas.microsoft.com/office/powerpoint/2010/main" val="2634746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1762072" y="1"/>
            <a:ext cx="12621928" cy="12079288"/>
          </a:xfrm>
          <a:prstGeom prst="rect">
            <a:avLst/>
          </a:prstGeom>
          <a:solidFill>
            <a:srgbClr val="154C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25976" y="5828043"/>
            <a:ext cx="788430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Założenia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0" y="638204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139159" y="2365486"/>
            <a:ext cx="1770107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0" dirty="0">
                <a:solidFill>
                  <a:schemeClr val="bg1"/>
                </a:solidFill>
                <a:latin typeface="+mj-lt"/>
                <a:cs typeface="Poppins SemiBold" panose="02000000000000000000" pitchFamily="2" charset="0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54076" y="6661286"/>
            <a:ext cx="707617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b="1" dirty="0">
                <a:solidFill>
                  <a:schemeClr val="bg1"/>
                </a:solidFill>
                <a:cs typeface="Poppins SemiBold" panose="02000000000000000000" pitchFamily="2" charset="0"/>
              </a:rPr>
              <a:t>Magistrala 64-bit</a:t>
            </a:r>
            <a:endParaRPr lang="en-US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139159" y="4310743"/>
            <a:ext cx="1770107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0" dirty="0">
                <a:solidFill>
                  <a:schemeClr val="bg1"/>
                </a:solidFill>
                <a:latin typeface="+mj-lt"/>
                <a:cs typeface="Poppins SemiBold" panose="02000000000000000000" pitchFamily="2" charset="0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54076" y="2814209"/>
            <a:ext cx="707617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b="1" dirty="0">
                <a:solidFill>
                  <a:schemeClr val="bg1"/>
                </a:solidFill>
                <a:cs typeface="Poppins SemiBold" panose="02000000000000000000" pitchFamily="2" charset="0"/>
              </a:rPr>
              <a:t>Zgodność ze standardem 3GPP</a:t>
            </a:r>
            <a:endParaRPr lang="en-US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139159" y="6256000"/>
            <a:ext cx="1770107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0" dirty="0">
                <a:solidFill>
                  <a:schemeClr val="bg1"/>
                </a:solidFill>
                <a:latin typeface="+mj-lt"/>
                <a:cs typeface="Poppins SemiBold" panose="02000000000000000000" pitchFamily="2" charset="0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631426" y="6409888"/>
            <a:ext cx="707617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139159" y="8201256"/>
            <a:ext cx="1770107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0" dirty="0">
                <a:solidFill>
                  <a:schemeClr val="bg1"/>
                </a:solidFill>
                <a:latin typeface="+mj-lt"/>
                <a:cs typeface="Poppins SemiBold" panose="02000000000000000000" pitchFamily="2" charset="0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54076" y="8637498"/>
            <a:ext cx="707617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b="1" dirty="0">
                <a:solidFill>
                  <a:schemeClr val="bg1"/>
                </a:solidFill>
                <a:cs typeface="Poppins SemiBold" panose="02000000000000000000" pitchFamily="2" charset="0"/>
              </a:rPr>
              <a:t>Deterministyczność działania</a:t>
            </a:r>
            <a:endParaRPr lang="en-US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62408E-C8CA-FE28-E605-C95A2137764D}"/>
              </a:ext>
            </a:extLst>
          </p:cNvPr>
          <p:cNvSpPr txBox="1"/>
          <p:nvPr/>
        </p:nvSpPr>
        <p:spPr>
          <a:xfrm>
            <a:off x="14754076" y="4449242"/>
            <a:ext cx="7076174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b="1" dirty="0">
                <a:solidFill>
                  <a:schemeClr val="bg1"/>
                </a:solidFill>
                <a:cs typeface="Poppins SemiBold" panose="02000000000000000000" pitchFamily="2" charset="0"/>
              </a:rPr>
              <a:t>Wynik zgodny z danymi referencyjnymi</a:t>
            </a:r>
            <a:endParaRPr lang="en-US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004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216E97-AAE5-5446-8F53-D13B6656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7E80EE-04B6-949A-7175-9C96B6F102FD}"/>
              </a:ext>
            </a:extLst>
          </p:cNvPr>
          <p:cNvSpPr/>
          <p:nvPr/>
        </p:nvSpPr>
        <p:spPr>
          <a:xfrm>
            <a:off x="1612232" y="1646238"/>
            <a:ext cx="21095368" cy="8812800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D35AD-E56E-764D-812E-CFBA07312B5C}"/>
              </a:ext>
            </a:extLst>
          </p:cNvPr>
          <p:cNvSpPr txBox="1"/>
          <p:nvPr/>
        </p:nvSpPr>
        <p:spPr>
          <a:xfrm>
            <a:off x="10334040" y="169853"/>
            <a:ext cx="7906920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 err="1">
                <a:solidFill>
                  <a:schemeClr val="bg1"/>
                </a:solidFill>
                <a:cs typeface="Poppins SemiBold" panose="02000000000000000000" pitchFamily="2" charset="0"/>
              </a:rPr>
              <a:t>PDSCHTx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97D74D-3DFD-9F81-D1C1-0DBCF004449C}"/>
              </a:ext>
            </a:extLst>
          </p:cNvPr>
          <p:cNvCxnSpPr/>
          <p:nvPr/>
        </p:nvCxnSpPr>
        <p:spPr>
          <a:xfrm flipH="1">
            <a:off x="8885194" y="4017158"/>
            <a:ext cx="2489198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Placeholder 34">
            <a:extLst>
              <a:ext uri="{FF2B5EF4-FFF2-40B4-BE49-F238E27FC236}">
                <a16:creationId xmlns:a16="http://schemas.microsoft.com/office/drawing/2014/main" id="{6BCE3BE8-B436-3D06-E36D-A48A0EED13D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4" r="2054"/>
          <a:stretch>
            <a:fillRect/>
          </a:stretch>
        </p:blipFill>
        <p:spPr>
          <a:xfrm>
            <a:off x="1612900" y="1646238"/>
            <a:ext cx="21094700" cy="8812212"/>
          </a:xfrm>
        </p:spPr>
      </p:pic>
    </p:spTree>
    <p:extLst>
      <p:ext uri="{BB962C8B-B14F-4D97-AF65-F5344CB8AC3E}">
        <p14:creationId xmlns:p14="http://schemas.microsoft.com/office/powerpoint/2010/main" val="3275881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0B361-9B92-E1A4-6702-99A87341C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48CBC4-37F2-6105-F29F-FD6E7E79EFC5}"/>
              </a:ext>
            </a:extLst>
          </p:cNvPr>
          <p:cNvCxnSpPr/>
          <p:nvPr/>
        </p:nvCxnSpPr>
        <p:spPr>
          <a:xfrm flipH="1">
            <a:off x="8885194" y="4017158"/>
            <a:ext cx="2489198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4059DA52-4354-3013-ACB2-728C396078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07" y="3187874"/>
            <a:ext cx="22831863" cy="734025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ADD0C87-4D10-0386-84D1-D895B3143195}"/>
              </a:ext>
            </a:extLst>
          </p:cNvPr>
          <p:cNvSpPr txBox="1"/>
          <p:nvPr/>
        </p:nvSpPr>
        <p:spPr>
          <a:xfrm>
            <a:off x="10129793" y="620790"/>
            <a:ext cx="7906920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CRC_SERIAL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221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0CE22A-F906-2AF7-ABDB-463F34A3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24A733-F77E-56F6-B964-3112E7C8462C}"/>
              </a:ext>
            </a:extLst>
          </p:cNvPr>
          <p:cNvSpPr txBox="1"/>
          <p:nvPr/>
        </p:nvSpPr>
        <p:spPr>
          <a:xfrm>
            <a:off x="10129793" y="134747"/>
            <a:ext cx="977395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4000" b="1" dirty="0">
                <a:solidFill>
                  <a:schemeClr val="bg1"/>
                </a:solidFill>
                <a:cs typeface="Poppins SemiBold" panose="02000000000000000000" pitchFamily="2" charset="0"/>
              </a:rPr>
              <a:t>CRC_TB_PARALLEL</a:t>
            </a:r>
            <a:endParaRPr lang="en-US" sz="40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061A3FB-CA32-47B9-33FD-471CA745B594}"/>
              </a:ext>
            </a:extLst>
          </p:cNvPr>
          <p:cNvCxnSpPr/>
          <p:nvPr/>
        </p:nvCxnSpPr>
        <p:spPr>
          <a:xfrm flipH="1">
            <a:off x="8885194" y="4017158"/>
            <a:ext cx="2489198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CA8D71B-21E4-AC59-F6D8-CE03C63A190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" r="19"/>
          <a:stretch>
            <a:fillRect/>
          </a:stretch>
        </p:blipFill>
        <p:spPr>
          <a:xfrm>
            <a:off x="6383753" y="851771"/>
            <a:ext cx="10786647" cy="10985326"/>
          </a:xfrm>
        </p:spPr>
      </p:pic>
    </p:spTree>
    <p:extLst>
      <p:ext uri="{BB962C8B-B14F-4D97-AF65-F5344CB8AC3E}">
        <p14:creationId xmlns:p14="http://schemas.microsoft.com/office/powerpoint/2010/main" val="1811170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A7989-B078-3BF7-2FD5-2C20730C9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476BEA-7864-A5BF-6601-907B50632A50}"/>
              </a:ext>
            </a:extLst>
          </p:cNvPr>
          <p:cNvSpPr txBox="1"/>
          <p:nvPr/>
        </p:nvSpPr>
        <p:spPr>
          <a:xfrm>
            <a:off x="9394588" y="94697"/>
            <a:ext cx="7906920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LDPC_PREP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187728-81FF-B119-591D-111DA9F4B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782" y="1340285"/>
            <a:ext cx="18963522" cy="1038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82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78EF5-85A6-28A3-BDF9-7C671307A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A5CA32-9926-002E-EF49-0929C7496447}"/>
              </a:ext>
            </a:extLst>
          </p:cNvPr>
          <p:cNvSpPr txBox="1"/>
          <p:nvPr/>
        </p:nvSpPr>
        <p:spPr>
          <a:xfrm>
            <a:off x="8088228" y="2070"/>
            <a:ext cx="7906920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LDPC_ENCODE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A6BEA3-765B-96C8-D815-573A6BD071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34" y="1516602"/>
            <a:ext cx="19666898" cy="985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52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732F9-77C2-0348-7A27-3FA818129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283716-DAFE-6926-A16C-5B7ADAEF2033}"/>
              </a:ext>
            </a:extLst>
          </p:cNvPr>
          <p:cNvSpPr txBox="1"/>
          <p:nvPr/>
        </p:nvSpPr>
        <p:spPr>
          <a:xfrm>
            <a:off x="8088228" y="2070"/>
            <a:ext cx="7906920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LDPC_ENCODE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B799D-F9B0-DEFB-C581-B55893F31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951" y="1457153"/>
            <a:ext cx="18576098" cy="1019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5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27293" y="2561209"/>
            <a:ext cx="788430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TESTOWANIE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D4B4A51-7429-682C-ADAA-D6D056CE7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813" y="3941462"/>
            <a:ext cx="10147505" cy="23930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A957BD-38E4-798F-A467-3C13B6D3A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662" y="7381477"/>
            <a:ext cx="6821805" cy="42198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3AEEC9-0616-6A8E-E082-0848603EA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4721" y="5038598"/>
            <a:ext cx="9471990" cy="336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50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0C830-1871-421F-C436-529CEE0C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FCAA1C-04B6-4C82-9B33-8CCEDE23457D}"/>
              </a:ext>
            </a:extLst>
          </p:cNvPr>
          <p:cNvSpPr txBox="1"/>
          <p:nvPr/>
        </p:nvSpPr>
        <p:spPr>
          <a:xfrm>
            <a:off x="2827293" y="2561209"/>
            <a:ext cx="788430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l-PL" sz="7200" b="1" dirty="0">
                <a:solidFill>
                  <a:schemeClr val="bg1"/>
                </a:solidFill>
                <a:cs typeface="Poppins SemiBold" panose="02000000000000000000" pitchFamily="2" charset="0"/>
              </a:rPr>
              <a:t>SYNTEZA</a:t>
            </a:r>
            <a:endParaRPr lang="en-US" sz="7200" b="1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92D0855-B203-E373-881C-C71F38620DF3}"/>
              </a:ext>
            </a:extLst>
          </p:cNvPr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6DF20C7-15B6-F071-F6A3-46EEB8B90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6" y="6532834"/>
            <a:ext cx="9302974" cy="40475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D9A379-FA8D-2932-E651-4215898EE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4185" y="2561209"/>
            <a:ext cx="12308898" cy="19654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E9CEFD-BDD3-D58B-37A4-9C695F187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89485" y="6506088"/>
            <a:ext cx="9418299" cy="404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48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69368" y="914029"/>
            <a:ext cx="11571440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sz="5400" b="1" cap="all" dirty="0">
                <a:solidFill>
                  <a:schemeClr val="bg1"/>
                </a:solidFill>
                <a:cs typeface="Poppins SemiBold" panose="02000000000000000000" pitchFamily="2" charset="0"/>
              </a:rPr>
              <a:t>WNIOSKI </a:t>
            </a:r>
          </a:p>
          <a:p>
            <a:pPr algn="ctr"/>
            <a:r>
              <a:rPr lang="pl-PL" sz="5400" b="1" cap="all" dirty="0">
                <a:solidFill>
                  <a:schemeClr val="bg1"/>
                </a:solidFill>
                <a:cs typeface="Poppins SemiBold" panose="02000000000000000000" pitchFamily="2" charset="0"/>
              </a:rPr>
              <a:t>ORAZ </a:t>
            </a:r>
          </a:p>
          <a:p>
            <a:pPr algn="ctr"/>
            <a:r>
              <a:rPr lang="pl-PL" sz="5400" b="1" cap="all" dirty="0">
                <a:solidFill>
                  <a:schemeClr val="bg1"/>
                </a:solidFill>
                <a:cs typeface="Poppins SemiBold" panose="02000000000000000000" pitchFamily="2" charset="0"/>
              </a:rPr>
              <a:t>POTENCJALNE KIERUNKI KONTYNUACJI</a:t>
            </a:r>
            <a:endParaRPr lang="en-US" sz="5400" b="1" cap="all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pic>
        <p:nvPicPr>
          <p:cNvPr id="3" name="Picture Placeholder 24">
            <a:extLst>
              <a:ext uri="{FF2B5EF4-FFF2-40B4-BE49-F238E27FC236}">
                <a16:creationId xmlns:a16="http://schemas.microsoft.com/office/drawing/2014/main" id="{7655D9F9-A727-A67A-8A53-D6D5707C38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" r="1021"/>
          <a:stretch>
            <a:fillRect/>
          </a:stretch>
        </p:blipFill>
        <p:spPr>
          <a:xfrm>
            <a:off x="8125767" y="3970751"/>
            <a:ext cx="8458642" cy="7402881"/>
          </a:xfrm>
        </p:spPr>
      </p:pic>
    </p:spTree>
    <p:extLst>
      <p:ext uri="{BB962C8B-B14F-4D97-AF65-F5344CB8AC3E}">
        <p14:creationId xmlns:p14="http://schemas.microsoft.com/office/powerpoint/2010/main" val="143727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ysClr val="window" lastClr="FFFFFF"/>
      </a:lt1>
      <a:dk2>
        <a:srgbClr val="000000"/>
      </a:dk2>
      <a:lt2>
        <a:srgbClr val="E4E6E8"/>
      </a:lt2>
      <a:accent1>
        <a:srgbClr val="000000"/>
      </a:accent1>
      <a:accent2>
        <a:srgbClr val="7F7F7F"/>
      </a:accent2>
      <a:accent3>
        <a:srgbClr val="A7A7A7"/>
      </a:accent3>
      <a:accent4>
        <a:srgbClr val="000000"/>
      </a:accent4>
      <a:accent5>
        <a:srgbClr val="7F7F7F"/>
      </a:accent5>
      <a:accent6>
        <a:srgbClr val="DCDDD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TM04033921[[fn=Damaszek]]</Template>
  <TotalTime>4765</TotalTime>
  <Words>220</Words>
  <Application>Microsoft Office PowerPoint</Application>
  <PresentationFormat>Custom</PresentationFormat>
  <Paragraphs>41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Barlow SCK SemiBold</vt:lpstr>
      <vt:lpstr>Calibri</vt:lpstr>
      <vt:lpstr>Montserrat Light</vt:lpstr>
      <vt:lpstr>Montserrat SemiBold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JafarDesigns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JafarDesigns</dc:creator>
  <cp:lastModifiedBy>Krzysztof Wojtasik (kw300964)</cp:lastModifiedBy>
  <cp:revision>918</cp:revision>
  <dcterms:created xsi:type="dcterms:W3CDTF">2016-06-20T18:47:00Z</dcterms:created>
  <dcterms:modified xsi:type="dcterms:W3CDTF">2026-02-04T16:24:02Z</dcterms:modified>
</cp:coreProperties>
</file>